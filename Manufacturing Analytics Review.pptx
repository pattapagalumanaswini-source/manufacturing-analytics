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890688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191791"/>
            <a:ext cx="288983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38BDF8"/>
                </a:solidFill>
                <a:latin typeface="Inter"/>
              </a:rPr>
              <a:t>GROUP 2 FINAL REVIEW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06116"/>
            <a:ext cx="8601075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 dirty="0">
                <a:solidFill>
                  <a:srgbClr val="FFFFFF"/>
                </a:solidFill>
                <a:latin typeface="Inter"/>
              </a:rPr>
              <a:t>Manufacturing Analytics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333363"/>
            <a:ext cx="729553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94A3B8"/>
                </a:solidFill>
                <a:latin typeface="Inter"/>
              </a:rPr>
              <a:t>Comprehensive Topic-Wise Presentation &amp; Module 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Deliverables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 Review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7873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ounded Rectangle 2"/>
          <p:cNvSpPr/>
          <p:nvPr/>
        </p:nvSpPr>
        <p:spPr>
          <a:xfrm>
            <a:off x="4343400" y="3083123"/>
            <a:ext cx="35052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83123"/>
            <a:ext cx="35052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987873"/>
            <a:ext cx="38100" cy="1905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3083123"/>
            <a:ext cx="38100" cy="1714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3083123"/>
            <a:ext cx="38100" cy="1714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292673"/>
            <a:ext cx="390525" cy="43738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3387923"/>
            <a:ext cx="352974" cy="47063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099" y="3387923"/>
            <a:ext cx="478971" cy="419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1174462"/>
            <a:ext cx="4429674" cy="3736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800" b="1" i="0" u="none" dirty="0">
                <a:solidFill>
                  <a:srgbClr val="0F172A"/>
                </a:solidFill>
                <a:latin typeface="Inter"/>
              </a:rPr>
              <a:t>Executive Overview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723258"/>
            <a:ext cx="801565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64748B"/>
                </a:solidFill>
                <a:latin typeface="Inter"/>
              </a:rPr>
              <a:t>High-level project scope and architecture deliverables across the operational lifecycle</a:t>
            </a:r>
            <a:r>
              <a:rPr sz="1350" b="0" i="0" u="none" dirty="0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711773"/>
            <a:ext cx="177933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Inter"/>
              </a:rPr>
              <a:t>SQL Pipeline &amp; ETL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4016573"/>
            <a:ext cx="295275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Inter"/>
              </a:rPr>
              <a:t>Robust database scripting and denominator handling in manufacture DB.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6300" y="3807023"/>
            <a:ext cx="144219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Inter"/>
              </a:rPr>
              <a:t>Excel Modeling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6300" y="4111823"/>
            <a:ext cx="29527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Inter"/>
              </a:rPr>
              <a:t>Unit economics and cost-per-unit validation via structured modeling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0100" y="3807023"/>
            <a:ext cx="186333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Inter"/>
              </a:rPr>
              <a:t>Tableau &amp; Power 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0100" y="4111823"/>
            <a:ext cx="29527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Inter"/>
              </a:rPr>
              <a:t>Interactive shop-floor tracking and quality bottleneck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23900" y="2897385"/>
            <a:ext cx="3429000" cy="142875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1500" y="2897385"/>
            <a:ext cx="3429000" cy="142875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39100" y="2897385"/>
            <a:ext cx="3429000" cy="142875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3900" y="1967589"/>
            <a:ext cx="6246582" cy="3736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800" b="1" i="0" u="none" dirty="0">
                <a:solidFill>
                  <a:srgbClr val="0F172A"/>
                </a:solidFill>
                <a:latin typeface="Inter"/>
              </a:rPr>
              <a:t>Topic 1: Production Volume &amp; Throughput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125985"/>
            <a:ext cx="371475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0284C7"/>
                </a:solidFill>
                <a:latin typeface="Inter"/>
              </a:rPr>
              <a:t>WO_Qty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4964" y="3697485"/>
            <a:ext cx="168687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0F172A"/>
                </a:solidFill>
                <a:latin typeface="Inter"/>
              </a:rPr>
              <a:t>Ordered Quantity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485" y="3935610"/>
            <a:ext cx="256583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i="0" u="none" dirty="0">
                <a:solidFill>
                  <a:srgbClr val="64748B"/>
                </a:solidFill>
                <a:latin typeface="Inter"/>
              </a:rPr>
              <a:t>Baseline customer demand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8625" y="3125985"/>
            <a:ext cx="371475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0D9488"/>
                </a:solidFill>
                <a:latin typeface="Inter"/>
              </a:rPr>
              <a:t>Processed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9498" y="3697485"/>
            <a:ext cx="231300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0F172A"/>
                </a:solidFill>
                <a:latin typeface="Inter"/>
              </a:rPr>
              <a:t>Active Floor Throughput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0476" y="3935610"/>
            <a:ext cx="289104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i="0" u="none" dirty="0">
                <a:solidFill>
                  <a:srgbClr val="64748B"/>
                </a:solidFill>
                <a:latin typeface="Inter"/>
              </a:rPr>
              <a:t>Active machining and assembly batches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25" y="3125985"/>
            <a:ext cx="371475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16A34A"/>
                </a:solidFill>
                <a:latin typeface="Inter"/>
              </a:rPr>
              <a:t>Produced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86564" y="3697485"/>
            <a:ext cx="153407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0F172A"/>
                </a:solidFill>
                <a:latin typeface="Inter"/>
              </a:rPr>
              <a:t>Finished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7448" y="3935610"/>
            <a:ext cx="209230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i="0" u="none" dirty="0">
                <a:solidFill>
                  <a:srgbClr val="64748B"/>
                </a:solidFill>
                <a:latin typeface="Inter"/>
              </a:rPr>
              <a:t>Successfully completed units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30698"/>
            <a:ext cx="5600700" cy="1990725"/>
          </a:xfrm>
          <a:prstGeom prst="roundRect">
            <a:avLst>
              <a:gd name="adj" fmla="val 76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67500" y="2440185"/>
            <a:ext cx="4914900" cy="1171575"/>
          </a:xfrm>
          <a:prstGeom prst="roundRect">
            <a:avLst>
              <a:gd name="adj" fmla="val 975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67500" y="3840360"/>
            <a:ext cx="4914900" cy="1171575"/>
          </a:xfrm>
          <a:prstGeom prst="roundRect">
            <a:avLst>
              <a:gd name="adj" fmla="val 975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483173"/>
            <a:ext cx="17145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835598"/>
            <a:ext cx="219075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4188023"/>
            <a:ext cx="152400" cy="180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517649"/>
            <a:ext cx="6437211" cy="3736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800" b="1" i="0" u="none" dirty="0">
                <a:solidFill>
                  <a:srgbClr val="0F172A"/>
                </a:solidFill>
                <a:latin typeface="Inter"/>
              </a:rPr>
              <a:t>Topic 2: Operational Efficiency &amp; Utilization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073598"/>
            <a:ext cx="236699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Inter"/>
              </a:rPr>
              <a:t>Core Performance Ratios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3465939"/>
            <a:ext cx="3363100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 u="none" dirty="0">
                <a:solidFill>
                  <a:srgbClr val="334155"/>
                </a:solidFill>
                <a:latin typeface="Inter"/>
              </a:rPr>
              <a:t>Efficiency Rate: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Produced Qty / Processed Qty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5875" y="3818364"/>
            <a:ext cx="3317447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 u="none" dirty="0">
                <a:solidFill>
                  <a:srgbClr val="334155"/>
                </a:solidFill>
                <a:latin typeface="Inter"/>
              </a:rPr>
              <a:t>Machine Utilization: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Processed Qty / WO Qty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4170789"/>
            <a:ext cx="376590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 u="none" dirty="0">
                <a:solidFill>
                  <a:srgbClr val="334155"/>
                </a:solidFill>
                <a:latin typeface="Inter"/>
              </a:rPr>
              <a:t>Delivery Reliability:</a:t>
            </a:r>
            <a:r>
              <a:rPr sz="1400" b="0" i="0" u="none" dirty="0">
                <a:solidFill>
                  <a:srgbClr val="334155"/>
                </a:solidFill>
                <a:latin typeface="Inter"/>
              </a:rPr>
              <a:t> Scheduled vs Actual Fulfillment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5625" y="2678310"/>
            <a:ext cx="149290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369A1"/>
                </a:solidFill>
                <a:latin typeface="Inter"/>
              </a:rPr>
              <a:t>REPEAT ORDER 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5625" y="2878335"/>
            <a:ext cx="45339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C4A6E"/>
                </a:solidFill>
                <a:latin typeface="Inter"/>
              </a:rPr>
              <a:t>Tracking customer retention and recurring batches via </a:t>
            </a:r>
            <a:r>
              <a:rPr b="1" i="0" u="none" dirty="0" err="1">
                <a:solidFill>
                  <a:srgbClr val="0C4A6E"/>
                </a:solidFill>
                <a:latin typeface="Inter"/>
              </a:rPr>
              <a:t>Is_Repeat_Order</a:t>
            </a:r>
            <a:r>
              <a:rPr b="1" i="0" u="none" dirty="0">
                <a:solidFill>
                  <a:srgbClr val="0C4A6E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5625" y="4078485"/>
            <a:ext cx="111280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15803D"/>
                </a:solidFill>
                <a:latin typeface="Inter"/>
              </a:rPr>
              <a:t>DELIVERY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5625" y="4278510"/>
            <a:ext cx="45339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4532D"/>
                </a:solidFill>
                <a:latin typeface="Inter"/>
              </a:rPr>
              <a:t>Percentage evaluation for 'On Time' fulfillment targets.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2160"/>
            <a:ext cx="35052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02160"/>
            <a:ext cx="35052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02160"/>
            <a:ext cx="35052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6300" y="2163396"/>
            <a:ext cx="6862007" cy="3736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800" b="1" i="0" u="none" dirty="0">
                <a:solidFill>
                  <a:srgbClr val="0F172A"/>
                </a:solidFill>
                <a:latin typeface="Inter"/>
              </a:rPr>
              <a:t>Topic 3: Manufacturing Cost &amp; Unit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68860"/>
            <a:ext cx="152317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Inter"/>
              </a:rPr>
              <a:t>Total Value Sum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73660"/>
            <a:ext cx="30670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Inter"/>
              </a:rPr>
              <a:t>Aggregate financial expenditure across all production work orders.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268860"/>
            <a:ext cx="125098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Inter"/>
              </a:rPr>
              <a:t>Cost per 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73660"/>
            <a:ext cx="30670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Inter"/>
              </a:rPr>
              <a:t>Calculated as Total Value divided by Produced Quantity.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268860"/>
            <a:ext cx="138018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Inter"/>
              </a:rPr>
              <a:t>Machine </a:t>
            </a:r>
            <a:r>
              <a:rPr b="1" i="0" u="none" dirty="0" err="1">
                <a:solidFill>
                  <a:srgbClr val="0F172A"/>
                </a:solidFill>
                <a:latin typeface="Inter"/>
              </a:rPr>
              <a:t>OpEx</a:t>
            </a:r>
            <a:endParaRPr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43900" y="3573660"/>
            <a:ext cx="30670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Inter"/>
              </a:rPr>
              <a:t>Daily operational cost tracking by machinery unit.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81700" y="2730698"/>
            <a:ext cx="5600700" cy="1990725"/>
          </a:xfrm>
          <a:prstGeom prst="roundRect">
            <a:avLst>
              <a:gd name="adj" fmla="val 76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97335"/>
            <a:ext cx="4914900" cy="1133475"/>
          </a:xfrm>
          <a:prstGeom prst="roundRect">
            <a:avLst>
              <a:gd name="adj" fmla="val 1008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821310"/>
            <a:ext cx="4914900" cy="1133475"/>
          </a:xfrm>
          <a:prstGeom prst="roundRect">
            <a:avLst>
              <a:gd name="adj" fmla="val 10084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3483173"/>
            <a:ext cx="219075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835598"/>
            <a:ext cx="219075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4188023"/>
            <a:ext cx="190500" cy="180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056968"/>
            <a:ext cx="5446299" cy="3736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800" b="1" i="0" u="none" dirty="0">
                <a:solidFill>
                  <a:srgbClr val="0F172A"/>
                </a:solidFill>
                <a:latin typeface="Inter"/>
              </a:rPr>
              <a:t>Topic 4: Quality Control &amp; Rejections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3073598"/>
            <a:ext cx="225619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Inter"/>
              </a:rPr>
              <a:t>Root-Cause Dimensions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735460"/>
            <a:ext cx="121853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991B1B"/>
                </a:solidFill>
                <a:latin typeface="Inter"/>
              </a:rPr>
              <a:t>REJECTION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935485"/>
            <a:ext cx="45339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7F1D1D"/>
                </a:solidFill>
                <a:latin typeface="Inter"/>
              </a:rPr>
              <a:t>Rejected Qty percentage relative to processed production volume.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059435"/>
            <a:ext cx="173848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92400E"/>
                </a:solidFill>
                <a:latin typeface="Inter"/>
              </a:rPr>
              <a:t>WASTAGE PERCENTAGE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259460"/>
            <a:ext cx="45339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78350F"/>
                </a:solidFill>
                <a:latin typeface="Inter"/>
              </a:rPr>
              <a:t>Evaluated against Total Quantity and Work Order requirements.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7975" y="3465939"/>
            <a:ext cx="24699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i="0" u="none" dirty="0">
                <a:solidFill>
                  <a:srgbClr val="334155"/>
                </a:solidFill>
                <a:latin typeface="Inter"/>
              </a:rPr>
              <a:t>Employee-wise Rejection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7975" y="3818364"/>
            <a:ext cx="216591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i="0" u="none" dirty="0">
                <a:solidFill>
                  <a:srgbClr val="334155"/>
                </a:solidFill>
                <a:latin typeface="Inter"/>
              </a:rPr>
              <a:t>Machine-wise Defect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170789"/>
            <a:ext cx="293503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i="0" u="none" dirty="0">
                <a:solidFill>
                  <a:srgbClr val="334155"/>
                </a:solidFill>
                <a:latin typeface="Inter"/>
              </a:rPr>
              <a:t>Departmental Breakdown &amp; Bottlenecks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30698"/>
            <a:ext cx="5257800" cy="1990725"/>
          </a:xfrm>
          <a:prstGeom prst="roundRect">
            <a:avLst>
              <a:gd name="adj" fmla="val 76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2873573"/>
            <a:ext cx="5257800" cy="1704975"/>
          </a:xfrm>
          <a:prstGeom prst="roundRect">
            <a:avLst>
              <a:gd name="adj" fmla="val 893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483173"/>
            <a:ext cx="19050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835598"/>
            <a:ext cx="17145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4188023"/>
            <a:ext cx="171450" cy="180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338545"/>
            <a:ext cx="5548186" cy="3736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800" b="1" i="0" u="none" dirty="0">
                <a:solidFill>
                  <a:srgbClr val="0F172A"/>
                </a:solidFill>
                <a:latin typeface="Inter"/>
              </a:rPr>
              <a:t>Topic 5: Visual Dashboard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073598"/>
            <a:ext cx="248888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Inter"/>
              </a:rPr>
              <a:t>Tableau &amp; Power BI Suites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3216473"/>
            <a:ext cx="160742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8BDF8"/>
                </a:solidFill>
                <a:latin typeface="Inter"/>
              </a:rPr>
              <a:t>DATA SYNCHRONIZATION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3454598"/>
            <a:ext cx="367940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FFFFFF"/>
                </a:solidFill>
                <a:latin typeface="Inter"/>
              </a:rPr>
              <a:t>SQL Hyper Extracts to Visual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3854648"/>
            <a:ext cx="46672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rgbClr val="94A3B8"/>
                </a:solidFill>
                <a:latin typeface="Inter"/>
              </a:rPr>
              <a:t>Seamless integration between backend database scripts and real-time executive dashboard monitoring.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300" y="3465939"/>
            <a:ext cx="2942857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i="0" u="none" dirty="0">
                <a:solidFill>
                  <a:srgbClr val="334155"/>
                </a:solidFill>
                <a:latin typeface="Inter"/>
              </a:rPr>
              <a:t>Dashboard 1: Executive Overview &amp; KPIs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250" y="3818364"/>
            <a:ext cx="3492110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i="0" u="none" dirty="0">
                <a:solidFill>
                  <a:srgbClr val="334155"/>
                </a:solidFill>
                <a:latin typeface="Inter"/>
              </a:rPr>
              <a:t>Dashboard 2: Machine &amp; Operator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50" y="4170789"/>
            <a:ext cx="289604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i="0" u="none" dirty="0">
                <a:solidFill>
                  <a:srgbClr val="334155"/>
                </a:solidFill>
                <a:latin typeface="Inter"/>
              </a:rPr>
              <a:t>Dashboard 3: Quality &amp; Wastage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35460"/>
            <a:ext cx="5257800" cy="1981200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2735460"/>
            <a:ext cx="5257800" cy="198120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1420795"/>
            <a:ext cx="4340099" cy="3736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800" b="1" i="0" u="none" dirty="0">
                <a:solidFill>
                  <a:srgbClr val="0F172A"/>
                </a:solidFill>
                <a:latin typeface="Inter"/>
              </a:rPr>
              <a:t>Challenges Faced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3087885"/>
            <a:ext cx="200247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991B1B"/>
                </a:solidFill>
                <a:latin typeface="Inter"/>
              </a:rPr>
              <a:t>Data Integrity &amp;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487935"/>
            <a:ext cx="4648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7F1D1D"/>
                </a:solidFill>
                <a:latin typeface="Inter"/>
              </a:rPr>
              <a:t>Challenge:</a:t>
            </a:r>
            <a:r>
              <a:rPr sz="1400" b="0" i="0" u="none" dirty="0">
                <a:solidFill>
                  <a:srgbClr val="7F1D1D"/>
                </a:solidFill>
                <a:latin typeface="Inter"/>
              </a:rPr>
              <a:t> Inconsistent logs and missing values threatened calculation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983235"/>
            <a:ext cx="4648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4532D"/>
                </a:solidFill>
                <a:latin typeface="Inter"/>
              </a:rPr>
              <a:t>Solution:</a:t>
            </a:r>
            <a:r>
              <a:rPr sz="1400" b="0" i="0" u="none" dirty="0">
                <a:solidFill>
                  <a:srgbClr val="14532D"/>
                </a:solidFill>
                <a:latin typeface="Inter"/>
              </a:rPr>
              <a:t> Implemented robust SQL denominator handling using NULLIF to prevent division errors.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3087885"/>
            <a:ext cx="196874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5803D"/>
                </a:solidFill>
                <a:latin typeface="Inter"/>
              </a:rPr>
              <a:t>Root-Cause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3487935"/>
            <a:ext cx="4648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78350F"/>
                </a:solidFill>
                <a:latin typeface="Inter"/>
              </a:rPr>
              <a:t>Challenge:</a:t>
            </a:r>
            <a:r>
              <a:rPr sz="1400" b="0" i="0" u="none" dirty="0">
                <a:solidFill>
                  <a:srgbClr val="78350F"/>
                </a:solidFill>
                <a:latin typeface="Inter"/>
              </a:rPr>
              <a:t> Distinguishing operator error from machine failure in high-rejection areas.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3983235"/>
            <a:ext cx="4648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4532D"/>
                </a:solidFill>
                <a:latin typeface="Inter"/>
              </a:rPr>
              <a:t>Solution:</a:t>
            </a:r>
            <a:r>
              <a:rPr sz="1400" b="0" i="0" u="none" dirty="0">
                <a:solidFill>
                  <a:srgbClr val="14532D"/>
                </a:solidFill>
                <a:latin typeface="Inter"/>
              </a:rPr>
              <a:t> Built separate employee-wise and machine-wise rejection drill-downs.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2160"/>
            <a:ext cx="35052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02160"/>
            <a:ext cx="35052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02160"/>
            <a:ext cx="35052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1607575"/>
            <a:ext cx="6172395" cy="3736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800" b="1" i="0" u="none" dirty="0">
                <a:solidFill>
                  <a:srgbClr val="0F172A"/>
                </a:solidFill>
                <a:latin typeface="Inter"/>
              </a:rPr>
              <a:t>Strategic Recommendations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68860"/>
            <a:ext cx="214148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Inter"/>
              </a:rPr>
              <a:t>Machine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73660"/>
            <a:ext cx="306705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Inter"/>
              </a:rPr>
              <a:t>Target high-rejection machinery units for immediate preventive servicing.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268860"/>
            <a:ext cx="178593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Inter"/>
              </a:rPr>
              <a:t>Operator Coaching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73660"/>
            <a:ext cx="30670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Inter"/>
              </a:rPr>
              <a:t>Address employee-wise defect spikes with targeted operational 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268860"/>
            <a:ext cx="129573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Inter"/>
              </a:rPr>
              <a:t>Final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73660"/>
            <a:ext cx="306705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475569"/>
                </a:solidFill>
                <a:latin typeface="Inter"/>
              </a:rPr>
              <a:t>Package SQL scripts, Excel models, and Tableau dashboards for final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67400" y="4033837"/>
            <a:ext cx="4572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97782" y="2786062"/>
            <a:ext cx="2196435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000" b="1" i="0" u="none" dirty="0">
                <a:solidFill>
                  <a:srgbClr val="FFFFFF"/>
                </a:solidFill>
                <a:latin typeface="Inter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76929" y="3500437"/>
            <a:ext cx="4438139" cy="5078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94A3B8"/>
                </a:solidFill>
                <a:latin typeface="Inter"/>
              </a:rPr>
              <a:t>Group 2 - Manufacturing Analytics Final Review</a:t>
            </a:r>
            <a:endParaRPr lang="en-US" b="0" i="0" u="none" dirty="0">
              <a:solidFill>
                <a:srgbClr val="94A3B8"/>
              </a:solidFill>
              <a:latin typeface="Inter"/>
            </a:endParaRPr>
          </a:p>
          <a:p>
            <a:pPr algn="ctr"/>
            <a:endParaRPr sz="15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401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sollapur</cp:lastModifiedBy>
  <cp:revision>8</cp:revision>
  <dcterms:created xsi:type="dcterms:W3CDTF">2013-01-27T09:14:16Z</dcterms:created>
  <dcterms:modified xsi:type="dcterms:W3CDTF">2026-10-09T20:15:50Z</dcterms:modified>
  <cp:category/>
</cp:coreProperties>
</file>